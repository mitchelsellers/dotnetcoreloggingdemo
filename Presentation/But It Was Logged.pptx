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72" r:id="rId6"/>
    <p:sldId id="273" r:id="rId7"/>
    <p:sldId id="260" r:id="rId8"/>
    <p:sldId id="262" r:id="rId9"/>
    <p:sldId id="264" r:id="rId10"/>
    <p:sldId id="263" r:id="rId11"/>
    <p:sldId id="267" r:id="rId12"/>
    <p:sldId id="268" r:id="rId13"/>
    <p:sldId id="269" r:id="rId14"/>
    <p:sldId id="270" r:id="rId15"/>
    <p:sldId id="265" r:id="rId16"/>
    <p:sldId id="271" r:id="rId17"/>
    <p:sldId id="274" r:id="rId18"/>
    <p:sldId id="261" r:id="rId19"/>
    <p:sldId id="266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9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69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1629" y="1681389"/>
            <a:ext cx="9860536" cy="1823811"/>
          </a:xfrm>
        </p:spPr>
        <p:txBody>
          <a:bodyPr anchor="b"/>
          <a:lstStyle>
            <a:lvl1pPr algn="l">
              <a:defRPr sz="6000" b="0" i="0">
                <a:latin typeface="Segoe UI Light" charset="0"/>
                <a:ea typeface="Segoe UI Light" charset="0"/>
                <a:cs typeface="Segoe UI Light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1629" y="3602038"/>
            <a:ext cx="9860536" cy="1655762"/>
          </a:xfrm>
        </p:spPr>
        <p:txBody>
          <a:bodyPr/>
          <a:lstStyle>
            <a:lvl1pPr marL="0" indent="0" algn="l">
              <a:buNone/>
              <a:defRPr sz="2400" b="0" i="0">
                <a:latin typeface="Segoe UI Light" charset="0"/>
                <a:ea typeface="Segoe UI Light" charset="0"/>
                <a:cs typeface="Segoe UI Light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629" y="74458"/>
            <a:ext cx="2743200" cy="1057656"/>
          </a:xfrm>
          <a:prstGeom prst="rect">
            <a:avLst/>
          </a:prstGeom>
        </p:spPr>
      </p:pic>
      <p:sp>
        <p:nvSpPr>
          <p:cNvPr id="12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1629" y="6306671"/>
            <a:ext cx="9860536" cy="3361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US" sz="1200" b="0" i="0">
                <a:solidFill>
                  <a:schemeClr val="bg1"/>
                </a:solidFill>
                <a:latin typeface="Segoe UI Light" charset="0"/>
                <a:ea typeface="Segoe UI Light" charset="0"/>
                <a:cs typeface="Segoe UI Light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8834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1629" y="365125"/>
            <a:ext cx="10609089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1629" y="1825625"/>
            <a:ext cx="10609089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0718" y="5804027"/>
            <a:ext cx="914400" cy="917448"/>
          </a:xfrm>
          <a:prstGeom prst="rect">
            <a:avLst/>
          </a:prstGeom>
        </p:spPr>
      </p:pic>
      <p:sp>
        <p:nvSpPr>
          <p:cNvPr id="10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1629" y="6306671"/>
            <a:ext cx="9860536" cy="3361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US" sz="1200" b="0" i="0">
                <a:solidFill>
                  <a:schemeClr val="bg1"/>
                </a:solidFill>
                <a:latin typeface="Segoe UI Light" charset="0"/>
                <a:ea typeface="Segoe UI Light" charset="0"/>
                <a:cs typeface="Segoe UI Light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66634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1629" y="1709738"/>
            <a:ext cx="10609089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629" y="4589463"/>
            <a:ext cx="10609089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0718" y="5804027"/>
            <a:ext cx="914400" cy="917448"/>
          </a:xfrm>
          <a:prstGeom prst="rect">
            <a:avLst/>
          </a:prstGeom>
        </p:spPr>
      </p:pic>
      <p:sp>
        <p:nvSpPr>
          <p:cNvPr id="10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1629" y="6306671"/>
            <a:ext cx="9860536" cy="3361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US" sz="1200" b="0" i="0">
                <a:solidFill>
                  <a:schemeClr val="bg1"/>
                </a:solidFill>
                <a:latin typeface="Segoe UI Light" charset="0"/>
                <a:ea typeface="Segoe UI Light" charset="0"/>
                <a:cs typeface="Segoe UI Light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1600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7018" y="365125"/>
            <a:ext cx="10553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67018" y="1825625"/>
            <a:ext cx="4997824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3911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0718" y="5804027"/>
            <a:ext cx="914400" cy="917448"/>
          </a:xfrm>
          <a:prstGeom prst="rect">
            <a:avLst/>
          </a:prstGeom>
        </p:spPr>
      </p:pic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1629" y="6306671"/>
            <a:ext cx="9860536" cy="3361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US" sz="1200" b="0" i="0">
                <a:solidFill>
                  <a:schemeClr val="bg1"/>
                </a:solidFill>
                <a:latin typeface="Segoe UI Light" charset="0"/>
                <a:ea typeface="Segoe UI Light" charset="0"/>
                <a:cs typeface="Segoe UI Light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1069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488" y="365125"/>
            <a:ext cx="1054923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7558" y="1690688"/>
            <a:ext cx="496934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71488" y="2505075"/>
            <a:ext cx="496934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76564" y="1681163"/>
            <a:ext cx="5144154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70494" y="2505075"/>
            <a:ext cx="5150224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0718" y="5804027"/>
            <a:ext cx="914400" cy="917448"/>
          </a:xfrm>
          <a:prstGeom prst="rect">
            <a:avLst/>
          </a:prstGeom>
        </p:spPr>
      </p:pic>
      <p:sp>
        <p:nvSpPr>
          <p:cNvPr id="13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511629" y="6306671"/>
            <a:ext cx="9860536" cy="3361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US" sz="1200" b="0" i="0">
                <a:solidFill>
                  <a:schemeClr val="bg1"/>
                </a:solidFill>
                <a:latin typeface="Segoe UI Light" charset="0"/>
                <a:ea typeface="Segoe UI Light" charset="0"/>
                <a:cs typeface="Segoe UI Light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5583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0718" y="5804027"/>
            <a:ext cx="914400" cy="917448"/>
          </a:xfrm>
          <a:prstGeom prst="rect">
            <a:avLst/>
          </a:prstGeom>
        </p:spPr>
      </p:pic>
      <p:sp>
        <p:nvSpPr>
          <p:cNvPr id="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1629" y="6306671"/>
            <a:ext cx="9860536" cy="3361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US" sz="1200" b="0" i="0">
                <a:solidFill>
                  <a:schemeClr val="bg1"/>
                </a:solidFill>
                <a:latin typeface="Segoe UI Light" charset="0"/>
                <a:ea typeface="Segoe UI Light" charset="0"/>
                <a:cs typeface="Segoe UI Light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23586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0718" y="5804027"/>
            <a:ext cx="914400" cy="917448"/>
          </a:xfrm>
          <a:prstGeom prst="rect">
            <a:avLst/>
          </a:prstGeom>
        </p:spPr>
      </p:pic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1629" y="6306671"/>
            <a:ext cx="9860536" cy="3361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US" sz="1200" b="0" i="0">
                <a:solidFill>
                  <a:schemeClr val="bg1"/>
                </a:solidFill>
                <a:latin typeface="Segoe UI Light" charset="0"/>
                <a:ea typeface="Segoe UI Light" charset="0"/>
                <a:cs typeface="Segoe UI Light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5629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1630" y="457200"/>
            <a:ext cx="426039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457201"/>
            <a:ext cx="5937530" cy="54038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1630" y="2057400"/>
            <a:ext cx="426039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0718" y="5804027"/>
            <a:ext cx="914400" cy="917448"/>
          </a:xfrm>
          <a:prstGeom prst="rect">
            <a:avLst/>
          </a:prstGeom>
        </p:spPr>
      </p:pic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1629" y="6306671"/>
            <a:ext cx="9860536" cy="3361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US" sz="1200" b="0" i="0">
                <a:solidFill>
                  <a:schemeClr val="bg1"/>
                </a:solidFill>
                <a:latin typeface="Segoe UI Light" charset="0"/>
                <a:ea typeface="Segoe UI Light" charset="0"/>
                <a:cs typeface="Segoe UI Light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9995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1630" y="457200"/>
            <a:ext cx="426039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593753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1630" y="2057400"/>
            <a:ext cx="426039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0718" y="5804027"/>
            <a:ext cx="914400" cy="917448"/>
          </a:xfrm>
          <a:prstGeom prst="rect">
            <a:avLst/>
          </a:prstGeom>
        </p:spPr>
      </p:pic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1629" y="6306671"/>
            <a:ext cx="9860536" cy="3361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US" sz="1200" b="0" i="0">
                <a:solidFill>
                  <a:schemeClr val="bg1"/>
                </a:solidFill>
                <a:latin typeface="Segoe UI Light" charset="0"/>
                <a:ea typeface="Segoe UI Light" charset="0"/>
                <a:cs typeface="Segoe UI Light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8025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1629" y="365125"/>
            <a:ext cx="10609089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1629" y="1825625"/>
            <a:ext cx="10609089" cy="43513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0718" y="5804027"/>
            <a:ext cx="914400" cy="917448"/>
          </a:xfrm>
          <a:prstGeom prst="rect">
            <a:avLst/>
          </a:prstGeom>
        </p:spPr>
      </p:pic>
      <p:sp>
        <p:nvSpPr>
          <p:cNvPr id="10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1629" y="6306671"/>
            <a:ext cx="9860536" cy="3361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US" sz="1200" b="0" i="0">
                <a:solidFill>
                  <a:schemeClr val="bg1"/>
                </a:solidFill>
                <a:latin typeface="Segoe UI Light" charset="0"/>
                <a:ea typeface="Segoe UI Light" charset="0"/>
                <a:cs typeface="Segoe UI Light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42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395818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1629" y="365125"/>
            <a:ext cx="8060871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0718" y="5804027"/>
            <a:ext cx="914400" cy="917448"/>
          </a:xfrm>
          <a:prstGeom prst="rect">
            <a:avLst/>
          </a:prstGeom>
        </p:spPr>
      </p:pic>
      <p:sp>
        <p:nvSpPr>
          <p:cNvPr id="10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1629" y="6306671"/>
            <a:ext cx="9860536" cy="3361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US" sz="1200" b="0" i="0">
                <a:solidFill>
                  <a:schemeClr val="bg1"/>
                </a:solidFill>
                <a:latin typeface="Segoe UI Light" charset="0"/>
                <a:ea typeface="Segoe UI Light" charset="0"/>
                <a:cs typeface="Segoe UI Light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8281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070C0">
                <a:alpha val="20000"/>
              </a:srgbClr>
            </a:gs>
            <a:gs pos="40000">
              <a:srgbClr val="0E97AA"/>
            </a:gs>
            <a:gs pos="100000">
              <a:srgbClr val="0070C0"/>
            </a:gs>
          </a:gsLst>
          <a:lin ang="108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1630" y="365125"/>
            <a:ext cx="986053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630" y="1825625"/>
            <a:ext cx="9860536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1629" y="6306671"/>
            <a:ext cx="9860536" cy="3361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US" sz="1200" b="0" i="0">
                <a:solidFill>
                  <a:schemeClr val="bg1"/>
                </a:solidFill>
                <a:latin typeface="Segoe UI Light" charset="0"/>
                <a:ea typeface="Segoe UI Light" charset="0"/>
                <a:cs typeface="Segoe UI Light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7444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bg1"/>
          </a:solidFill>
          <a:latin typeface="Segoe UI Light" charset="0"/>
          <a:ea typeface="Segoe UI Light" charset="0"/>
          <a:cs typeface="Segoe UI Light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b="0" i="0" kern="1200">
          <a:solidFill>
            <a:schemeClr val="bg1"/>
          </a:solidFill>
          <a:latin typeface="Segoe UI Light" charset="0"/>
          <a:ea typeface="Segoe UI Light" charset="0"/>
          <a:cs typeface="Segoe UI Light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b="0" i="0" kern="1200">
          <a:solidFill>
            <a:schemeClr val="bg1"/>
          </a:solidFill>
          <a:latin typeface="Segoe UI Light" charset="0"/>
          <a:ea typeface="Segoe UI Light" charset="0"/>
          <a:cs typeface="Segoe UI Light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b="0" i="0" kern="1200">
          <a:solidFill>
            <a:schemeClr val="bg1"/>
          </a:solidFill>
          <a:latin typeface="Segoe UI Light" charset="0"/>
          <a:ea typeface="Segoe UI Light" charset="0"/>
          <a:cs typeface="Segoe UI Light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b="0" i="0" kern="1200">
          <a:solidFill>
            <a:schemeClr val="bg1"/>
          </a:solidFill>
          <a:latin typeface="Segoe UI Light" charset="0"/>
          <a:ea typeface="Segoe UI Light" charset="0"/>
          <a:cs typeface="Segoe UI Light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b="0" i="0" kern="1200">
          <a:solidFill>
            <a:schemeClr val="bg1"/>
          </a:solidFill>
          <a:latin typeface="Segoe UI Light" charset="0"/>
          <a:ea typeface="Segoe UI Light" charset="0"/>
          <a:cs typeface="Segoe UI Light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mailto:msellers@iowacomputergurus.com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mitchelsellers/dotnetcoreloggingdemo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microsoft.com/en-us/ef/core/miscellaneous/logging" TargetMode="External"/><Relationship Id="rId2" Type="http://schemas.openxmlformats.org/officeDocument/2006/relationships/hyperlink" Target="https://github.com/mitchelsellers/dotnetcoreloggingdemo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nuget.org/packages?q=Tags%3A%22serilog%22" TargetMode="Externa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59E18-2091-45F9-8A0C-AADAA01B7C0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But! It was Logged!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4D8165-0551-4829-8B86-1AD6528C97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 modern look at logging, telemetry, and more!</a:t>
            </a:r>
          </a:p>
        </p:txBody>
      </p:sp>
    </p:spTree>
    <p:extLst>
      <p:ext uri="{BB962C8B-B14F-4D97-AF65-F5344CB8AC3E}">
        <p14:creationId xmlns:p14="http://schemas.microsoft.com/office/powerpoint/2010/main" val="24800900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64B76-4CC9-4755-BFE9-49234E973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Who am I?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9F634C-7F51-4832-B45E-F01B8DAFCB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Mitchel Sellers</a:t>
            </a:r>
          </a:p>
          <a:p>
            <a:r>
              <a:rPr lang="en-US" dirty="0"/>
              <a:t>Microsoft MVP, </a:t>
            </a:r>
            <a:r>
              <a:rPr lang="en-US" dirty="0" err="1"/>
              <a:t>ASPInsider</a:t>
            </a:r>
            <a:r>
              <a:rPr lang="en-US" dirty="0"/>
              <a:t>, DNN MVP</a:t>
            </a:r>
            <a:br>
              <a:rPr lang="en-US" dirty="0"/>
            </a:br>
            <a:r>
              <a:rPr lang="en-US" dirty="0"/>
              <a:t>Microsoft Certified Professional</a:t>
            </a:r>
          </a:p>
          <a:p>
            <a:r>
              <a:rPr lang="en-US" dirty="0"/>
              <a:t>CEO – IowaComputerGurus, Inc. (USA)</a:t>
            </a:r>
          </a:p>
          <a:p>
            <a:r>
              <a:rPr lang="en-US" dirty="0"/>
              <a:t>Contact Information</a:t>
            </a:r>
          </a:p>
          <a:p>
            <a:pPr marL="457200" lvl="1" indent="0">
              <a:buNone/>
            </a:pPr>
            <a:r>
              <a:rPr lang="en-US" dirty="0">
                <a:hlinkClick r:id="rId2"/>
              </a:rPr>
              <a:t>msellers@iowacomputergurus.com</a:t>
            </a:r>
            <a:br>
              <a:rPr lang="en-US" dirty="0"/>
            </a:br>
            <a:r>
              <a:rPr lang="en-US" dirty="0"/>
              <a:t>GitHub: github.com/</a:t>
            </a:r>
            <a:r>
              <a:rPr lang="en-US" dirty="0" err="1"/>
              <a:t>mitchelsellers</a:t>
            </a:r>
            <a:endParaRPr lang="en-US" dirty="0"/>
          </a:p>
          <a:p>
            <a:pPr marL="457200" lvl="1" indent="0">
              <a:buNone/>
            </a:pPr>
            <a:r>
              <a:rPr lang="en-US" dirty="0"/>
              <a:t>Twitter: @</a:t>
            </a:r>
            <a:r>
              <a:rPr lang="en-US" dirty="0" err="1"/>
              <a:t>MitchelSellers</a:t>
            </a:r>
            <a:r>
              <a:rPr lang="en-US" dirty="0"/>
              <a:t>  |  @</a:t>
            </a:r>
            <a:r>
              <a:rPr lang="en-US" dirty="0" err="1"/>
              <a:t>iowacompgurus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5FC9AA8-208B-4002-B5DF-6DD30F21945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4799" y="1600200"/>
            <a:ext cx="3675017" cy="3687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08589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B4800-E873-4A5C-802E-A937B0418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Logging?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D9BB78-EE1F-4517-95E9-BCD11BC179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Often forgotten</a:t>
            </a:r>
          </a:p>
          <a:p>
            <a:r>
              <a:rPr lang="en-US" dirty="0"/>
              <a:t>OWASP Top 10 Ties</a:t>
            </a:r>
          </a:p>
          <a:p>
            <a:pPr lvl="1"/>
            <a:r>
              <a:rPr lang="en-US" dirty="0"/>
              <a:t>A5: Broken Access Control</a:t>
            </a:r>
          </a:p>
          <a:p>
            <a:pPr lvl="1"/>
            <a:r>
              <a:rPr lang="en-US" dirty="0"/>
              <a:t>A10: Insufficient Logging &amp; Monitoring</a:t>
            </a:r>
          </a:p>
          <a:p>
            <a:r>
              <a:rPr lang="en-US" dirty="0"/>
              <a:t>Many paths, no “single way” to just get it done</a:t>
            </a:r>
          </a:p>
          <a:p>
            <a:r>
              <a:rPr lang="en-US" dirty="0"/>
              <a:t>Out of the box implementation leaves questions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3442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0CA6E-E0D5-48EE-851A-95C6A075C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Yourself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DF7B59-8C87-41EF-BF29-4F6E4E2F2F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 you actively include logging in your code today?</a:t>
            </a:r>
          </a:p>
          <a:p>
            <a:r>
              <a:rPr lang="en-US" dirty="0"/>
              <a:t>Do you have a documented escalation process for logging events?</a:t>
            </a:r>
          </a:p>
          <a:p>
            <a:r>
              <a:rPr lang="en-US" dirty="0"/>
              <a:t>Do you look at your logs?</a:t>
            </a:r>
          </a:p>
          <a:p>
            <a:pPr lvl="1"/>
            <a:r>
              <a:rPr lang="en-US" dirty="0"/>
              <a:t>On a regular basis?</a:t>
            </a:r>
          </a:p>
        </p:txBody>
      </p:sp>
    </p:spTree>
    <p:extLst>
      <p:ext uri="{BB962C8B-B14F-4D97-AF65-F5344CB8AC3E}">
        <p14:creationId xmlns:p14="http://schemas.microsoft.com/office/powerpoint/2010/main" val="1771767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9EAFFB-90F8-F988-651C-FCC60AD90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Types of Applications Do You Build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E2B07B-9939-F95D-538F-B0D1816DB9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Traditional Web Applications</a:t>
            </a:r>
          </a:p>
          <a:p>
            <a:r>
              <a:rPr lang="en-US" dirty="0"/>
              <a:t>SaaS Web Applications</a:t>
            </a:r>
          </a:p>
          <a:p>
            <a:r>
              <a:rPr lang="en-US" dirty="0"/>
              <a:t>Desktop Applications</a:t>
            </a:r>
          </a:p>
          <a:p>
            <a:r>
              <a:rPr lang="en-US" dirty="0"/>
              <a:t>Mobile Applications</a:t>
            </a:r>
          </a:p>
        </p:txBody>
      </p:sp>
    </p:spTree>
    <p:extLst>
      <p:ext uri="{BB962C8B-B14F-4D97-AF65-F5344CB8AC3E}">
        <p14:creationId xmlns:p14="http://schemas.microsoft.com/office/powerpoint/2010/main" val="291076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616DC-D7D2-FA77-004C-A73BD07E75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Logging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A9DBF1-2A9F-63CC-7CA6-9166082846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Web Server/Access Logging</a:t>
            </a:r>
          </a:p>
          <a:p>
            <a:pPr lvl="1"/>
            <a:r>
              <a:rPr lang="en-US" dirty="0"/>
              <a:t>Outside of today’s scope, but worth considering (IIS Logs)</a:t>
            </a:r>
          </a:p>
          <a:p>
            <a:r>
              <a:rPr lang="en-US" dirty="0"/>
              <a:t>Windows Logging</a:t>
            </a:r>
          </a:p>
          <a:p>
            <a:pPr lvl="1"/>
            <a:r>
              <a:rPr lang="en-US" dirty="0"/>
              <a:t>Can catch SOME of what we discuss</a:t>
            </a:r>
          </a:p>
          <a:p>
            <a:r>
              <a:rPr lang="en-US" dirty="0"/>
              <a:t>Application Logging</a:t>
            </a:r>
          </a:p>
          <a:p>
            <a:pPr lvl="1"/>
            <a:r>
              <a:rPr lang="en-US" dirty="0"/>
              <a:t>What we are talking about today</a:t>
            </a:r>
          </a:p>
          <a:p>
            <a:r>
              <a:rPr lang="en-US" dirty="0"/>
              <a:t>Telemetry</a:t>
            </a:r>
          </a:p>
          <a:p>
            <a:pPr lvl="1"/>
            <a:r>
              <a:rPr lang="en-US" dirty="0"/>
              <a:t>Also on the docket for today</a:t>
            </a:r>
          </a:p>
        </p:txBody>
      </p:sp>
    </p:spTree>
    <p:extLst>
      <p:ext uri="{BB962C8B-B14F-4D97-AF65-F5344CB8AC3E}">
        <p14:creationId xmlns:p14="http://schemas.microsoft.com/office/powerpoint/2010/main" val="42060237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07C401-E7BD-45F0-A7C2-A3094AA58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Goals of Today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4A0F0C-E4CB-42EC-9E88-6AFBE7DCC3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can logging do, or not do, for your organization?</a:t>
            </a:r>
          </a:p>
          <a:p>
            <a:r>
              <a:rPr lang="en-US" dirty="0"/>
              <a:t>Escalation protocols, what makes sense?</a:t>
            </a:r>
          </a:p>
          <a:p>
            <a:r>
              <a:rPr lang="en-US" dirty="0"/>
              <a:t>Sensitivity?</a:t>
            </a:r>
          </a:p>
          <a:p>
            <a:r>
              <a:rPr lang="en-US" dirty="0"/>
              <a:t>Understanding Logging in .NET Core</a:t>
            </a:r>
          </a:p>
          <a:p>
            <a:pPr lvl="1"/>
            <a:r>
              <a:rPr lang="en-US" dirty="0"/>
              <a:t>Lots of code </a:t>
            </a:r>
            <a:r>
              <a:rPr lang="en-US" dirty="0" err="1"/>
              <a:t>sampes</a:t>
            </a:r>
            <a:r>
              <a:rPr lang="en-US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988813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25858C-A679-4D11-B439-9943CFE738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Uses of Logging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BF1805-C381-4D41-B39F-AB1E43EF64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Diagnostic Information</a:t>
            </a:r>
          </a:p>
          <a:p>
            <a:pPr lvl="1"/>
            <a:r>
              <a:rPr lang="en-US" dirty="0"/>
              <a:t>“Debug” style messaging, for trying to figure out why something is working the way it is</a:t>
            </a:r>
          </a:p>
          <a:p>
            <a:pPr lvl="1"/>
            <a:r>
              <a:rPr lang="en-US" dirty="0"/>
              <a:t>Often used on lower level environments</a:t>
            </a:r>
          </a:p>
          <a:p>
            <a:r>
              <a:rPr lang="en-US" dirty="0"/>
              <a:t>Audit Information</a:t>
            </a:r>
          </a:p>
          <a:p>
            <a:pPr lvl="1"/>
            <a:r>
              <a:rPr lang="en-US" dirty="0"/>
              <a:t>“Tracking” style messaging, for documenting user progression, actions, etc. </a:t>
            </a:r>
          </a:p>
          <a:p>
            <a:pPr lvl="1"/>
            <a:r>
              <a:rPr lang="en-US" dirty="0"/>
              <a:t>Often used for critical path, or sensitive data access</a:t>
            </a:r>
          </a:p>
          <a:p>
            <a:pPr lvl="1"/>
            <a:r>
              <a:rPr lang="en-US" dirty="0"/>
              <a:t>Think of credit card transaction logging, admin actions, etc.</a:t>
            </a:r>
          </a:p>
          <a:p>
            <a:pPr lvl="1"/>
            <a:r>
              <a:rPr lang="en-US" dirty="0"/>
              <a:t>ASP.NET Identity logs invalid password attempts</a:t>
            </a:r>
          </a:p>
          <a:p>
            <a:r>
              <a:rPr lang="en-US" dirty="0"/>
              <a:t>Exception Reporting</a:t>
            </a:r>
          </a:p>
          <a:p>
            <a:pPr lvl="1"/>
            <a:r>
              <a:rPr lang="en-US" dirty="0"/>
              <a:t>Knowing when your application has critical issues</a:t>
            </a:r>
          </a:p>
          <a:p>
            <a:pPr lvl="1"/>
            <a:r>
              <a:rPr lang="en-US" dirty="0"/>
              <a:t>Pre-emptive validation of potential issues that could impact users</a:t>
            </a:r>
          </a:p>
        </p:txBody>
      </p:sp>
    </p:spTree>
    <p:extLst>
      <p:ext uri="{BB962C8B-B14F-4D97-AF65-F5344CB8AC3E}">
        <p14:creationId xmlns:p14="http://schemas.microsoft.com/office/powerpoint/2010/main" val="1549774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2A5685-0B88-4C3D-84C2-220DFCC53A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Information Sensitivity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25969D-C778-469B-B046-2F3EE09141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Security of logging is important</a:t>
            </a:r>
          </a:p>
          <a:p>
            <a:pPr lvl="1"/>
            <a:r>
              <a:rPr lang="en-US" dirty="0"/>
              <a:t>Physical security</a:t>
            </a:r>
          </a:p>
          <a:p>
            <a:pPr lvl="1"/>
            <a:r>
              <a:rPr lang="en-US" dirty="0"/>
              <a:t>Retention</a:t>
            </a:r>
          </a:p>
          <a:p>
            <a:pPr lvl="1"/>
            <a:r>
              <a:rPr lang="en-US" dirty="0"/>
              <a:t>Included information</a:t>
            </a:r>
          </a:p>
          <a:p>
            <a:r>
              <a:rPr lang="en-US" dirty="0"/>
              <a:t>Often a fine line, enough detail to recreate, not enough to violate privacy concerns</a:t>
            </a:r>
          </a:p>
          <a:p>
            <a:r>
              <a:rPr lang="en-US" dirty="0"/>
              <a:t>GDPR adds additional concerns</a:t>
            </a:r>
          </a:p>
        </p:txBody>
      </p:sp>
    </p:spTree>
    <p:extLst>
      <p:ext uri="{BB962C8B-B14F-4D97-AF65-F5344CB8AC3E}">
        <p14:creationId xmlns:p14="http://schemas.microsoft.com/office/powerpoint/2010/main" val="36896849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E96C69-0684-46DD-A011-ED8957AF39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Escalation Protocols – Telling Someone!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1C16ED-215D-417D-9C15-27C47A7984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Placing the logging information in the best location is critical</a:t>
            </a:r>
          </a:p>
          <a:p>
            <a:pPr lvl="1"/>
            <a:r>
              <a:rPr lang="en-US" dirty="0"/>
              <a:t>Extremes on both visibility or notification can reduce effectiveness</a:t>
            </a:r>
          </a:p>
          <a:p>
            <a:pPr lvl="1"/>
            <a:r>
              <a:rPr lang="en-US" dirty="0"/>
              <a:t>Example: Logging system that emails on every 404, filters get created and logs ignored</a:t>
            </a:r>
          </a:p>
          <a:p>
            <a:r>
              <a:rPr lang="en-US" dirty="0"/>
              <a:t>Default Options</a:t>
            </a:r>
          </a:p>
          <a:p>
            <a:pPr lvl="1"/>
            <a:r>
              <a:rPr lang="en-US" dirty="0"/>
              <a:t>Out of the box we have Console, </a:t>
            </a:r>
            <a:r>
              <a:rPr lang="en-US" dirty="0" err="1"/>
              <a:t>ApplicationInsights</a:t>
            </a:r>
            <a:r>
              <a:rPr lang="en-US" dirty="0"/>
              <a:t>, </a:t>
            </a:r>
            <a:r>
              <a:rPr lang="en-US" dirty="0" err="1"/>
              <a:t>EventSource</a:t>
            </a:r>
            <a:r>
              <a:rPr lang="en-US" dirty="0"/>
              <a:t>, Debug</a:t>
            </a:r>
          </a:p>
          <a:p>
            <a:r>
              <a:rPr lang="en-US" dirty="0"/>
              <a:t>Third-Party</a:t>
            </a:r>
          </a:p>
          <a:p>
            <a:pPr lvl="1"/>
            <a:r>
              <a:rPr lang="en-US" dirty="0"/>
              <a:t>Endless options, including File, </a:t>
            </a:r>
            <a:r>
              <a:rPr lang="en-US" dirty="0" err="1"/>
              <a:t>RollingFile</a:t>
            </a:r>
            <a:r>
              <a:rPr lang="en-US" dirty="0"/>
              <a:t>, Email, </a:t>
            </a:r>
            <a:r>
              <a:rPr lang="en-US" dirty="0" err="1"/>
              <a:t>AzureStorage</a:t>
            </a:r>
            <a:r>
              <a:rPr lang="en-US" dirty="0"/>
              <a:t>, Seq, etc.</a:t>
            </a:r>
          </a:p>
          <a:p>
            <a:r>
              <a:rPr lang="en-US" dirty="0"/>
              <a:t>Should be different, based on severity/nature of message</a:t>
            </a:r>
          </a:p>
        </p:txBody>
      </p:sp>
    </p:spTree>
    <p:extLst>
      <p:ext uri="{BB962C8B-B14F-4D97-AF65-F5344CB8AC3E}">
        <p14:creationId xmlns:p14="http://schemas.microsoft.com/office/powerpoint/2010/main" val="2662196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1D3F4-043D-4BFB-AB0C-82D358D5F9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Escalation Pattern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4522CE-4216-4C37-8743-7C7D3195F8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Dual Configuration Split on Severity</a:t>
            </a:r>
          </a:p>
          <a:p>
            <a:pPr lvl="1"/>
            <a:r>
              <a:rPr lang="en-US" dirty="0"/>
              <a:t>Errors</a:t>
            </a:r>
          </a:p>
          <a:p>
            <a:pPr lvl="2"/>
            <a:r>
              <a:rPr lang="en-US" dirty="0"/>
              <a:t>Locally logged to the filesystem</a:t>
            </a:r>
          </a:p>
          <a:p>
            <a:pPr lvl="2"/>
            <a:r>
              <a:rPr lang="en-US" dirty="0"/>
              <a:t>Also sent an external service</a:t>
            </a:r>
          </a:p>
          <a:p>
            <a:pPr lvl="1"/>
            <a:r>
              <a:rPr lang="en-US" dirty="0"/>
              <a:t>Everything Else</a:t>
            </a:r>
          </a:p>
          <a:p>
            <a:pPr lvl="2"/>
            <a:r>
              <a:rPr lang="en-US" dirty="0"/>
              <a:t>Locally logged to the filesystem</a:t>
            </a:r>
          </a:p>
          <a:p>
            <a:pPr lvl="2"/>
            <a:r>
              <a:rPr lang="en-US" dirty="0"/>
              <a:t>30 days rolling history</a:t>
            </a:r>
          </a:p>
          <a:p>
            <a:r>
              <a:rPr lang="en-US" dirty="0"/>
              <a:t>Alert Thresholds Managed by outside source</a:t>
            </a:r>
          </a:p>
          <a:p>
            <a:pPr lvl="1"/>
            <a:r>
              <a:rPr lang="en-US" dirty="0"/>
              <a:t>Ideal if you can do online adjustments to logging levels</a:t>
            </a:r>
          </a:p>
          <a:p>
            <a:r>
              <a:rPr lang="en-US" dirty="0"/>
              <a:t>Quick access to detailed log messages</a:t>
            </a:r>
          </a:p>
        </p:txBody>
      </p:sp>
    </p:spTree>
    <p:extLst>
      <p:ext uri="{BB962C8B-B14F-4D97-AF65-F5344CB8AC3E}">
        <p14:creationId xmlns:p14="http://schemas.microsoft.com/office/powerpoint/2010/main" val="380472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402F3-C262-4AA6-9342-D13A14E46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Unique Aspects of Logging in .NET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A5D680-ECDC-483C-9EA4-630DEA4062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Default Configuration</a:t>
            </a:r>
          </a:p>
          <a:p>
            <a:pPr lvl="1"/>
            <a:r>
              <a:rPr lang="en-US" dirty="0"/>
              <a:t>Out of the box solution logs to console, on by default, ignored by all</a:t>
            </a:r>
          </a:p>
          <a:p>
            <a:pPr lvl="1"/>
            <a:r>
              <a:rPr lang="en-US" dirty="0"/>
              <a:t>Output Targets limited</a:t>
            </a:r>
          </a:p>
          <a:p>
            <a:r>
              <a:rPr lang="en-US" dirty="0"/>
              <a:t>Logging Stream</a:t>
            </a:r>
          </a:p>
          <a:p>
            <a:pPr lvl="1"/>
            <a:r>
              <a:rPr lang="en-US" dirty="0"/>
              <a:t>Single logging stream for everything, can filter by type/category</a:t>
            </a:r>
          </a:p>
          <a:p>
            <a:pPr lvl="1"/>
            <a:r>
              <a:rPr lang="en-US" dirty="0"/>
              <a:t>Allows raw access to plethora of information</a:t>
            </a:r>
          </a:p>
          <a:p>
            <a:r>
              <a:rPr lang="en-US" dirty="0"/>
              <a:t>Aspire?</a:t>
            </a:r>
          </a:p>
          <a:p>
            <a:pPr lvl="1"/>
            <a:r>
              <a:rPr lang="en-US" dirty="0"/>
              <a:t>It helps, and starts to bridge the gap, but dev only</a:t>
            </a:r>
          </a:p>
          <a:p>
            <a:r>
              <a:rPr lang="en-US" dirty="0"/>
              <a:t>Third-Party Support</a:t>
            </a:r>
          </a:p>
          <a:p>
            <a:pPr lvl="1"/>
            <a:r>
              <a:rPr lang="en-US" dirty="0" err="1"/>
              <a:t>Serilog</a:t>
            </a:r>
            <a:r>
              <a:rPr lang="en-US" dirty="0"/>
              <a:t> – Open-source project elevating the default options to world-class</a:t>
            </a:r>
          </a:p>
          <a:p>
            <a:pPr lvl="2"/>
            <a:r>
              <a:rPr lang="en-US" dirty="0"/>
              <a:t>Its creator also offers a product “Seq”</a:t>
            </a:r>
          </a:p>
        </p:txBody>
      </p:sp>
    </p:spTree>
    <p:extLst>
      <p:ext uri="{BB962C8B-B14F-4D97-AF65-F5344CB8AC3E}">
        <p14:creationId xmlns:p14="http://schemas.microsoft.com/office/powerpoint/2010/main" val="3883003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Text&#10;&#10;Description automatically generated">
            <a:extLst>
              <a:ext uri="{FF2B5EF4-FFF2-40B4-BE49-F238E27FC236}">
                <a16:creationId xmlns:a16="http://schemas.microsoft.com/office/drawing/2014/main" id="{740BA718-29C3-4784-88A6-AB9E63D195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r="1" b="44313"/>
          <a:stretch/>
        </p:blipFill>
        <p:spPr>
          <a:xfrm>
            <a:off x="20" y="10"/>
            <a:ext cx="12191980" cy="6857990"/>
          </a:xfrm>
          <a:noFill/>
        </p:spPr>
      </p:pic>
    </p:spTree>
    <p:extLst>
      <p:ext uri="{BB962C8B-B14F-4D97-AF65-F5344CB8AC3E}">
        <p14:creationId xmlns:p14="http://schemas.microsoft.com/office/powerpoint/2010/main" val="18106055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computer&#10;&#10;Description automatically generated with medium confidence">
            <a:extLst>
              <a:ext uri="{FF2B5EF4-FFF2-40B4-BE49-F238E27FC236}">
                <a16:creationId xmlns:a16="http://schemas.microsoft.com/office/drawing/2014/main" id="{953BF736-7731-4FBB-8DE8-B499231922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r="11111"/>
          <a:stretch/>
        </p:blipFill>
        <p:spPr>
          <a:xfrm>
            <a:off x="20" y="10"/>
            <a:ext cx="12191980" cy="6857990"/>
          </a:xfrm>
          <a:noFill/>
        </p:spPr>
      </p:pic>
      <p:pic>
        <p:nvPicPr>
          <p:cNvPr id="7" name="Picture 6" descr="A screenshot of a computer&#10;&#10;Description automatically generated with medium confidence">
            <a:extLst>
              <a:ext uri="{FF2B5EF4-FFF2-40B4-BE49-F238E27FC236}">
                <a16:creationId xmlns:a16="http://schemas.microsoft.com/office/drawing/2014/main" id="{AA88D3B9-C365-4309-BF19-D5A2475553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9299" y="2019405"/>
            <a:ext cx="7124700" cy="2457450"/>
          </a:xfrm>
          <a:prstGeom prst="rect">
            <a:avLst/>
          </a:prstGeom>
        </p:spPr>
      </p:pic>
      <p:pic>
        <p:nvPicPr>
          <p:cNvPr id="9" name="Picture 8" descr="Text&#10;&#10;Description automatically generated">
            <a:extLst>
              <a:ext uri="{FF2B5EF4-FFF2-40B4-BE49-F238E27FC236}">
                <a16:creationId xmlns:a16="http://schemas.microsoft.com/office/drawing/2014/main" id="{293BAF1A-5FF4-464B-950C-D6035CC86C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1578" y="2019405"/>
            <a:ext cx="6638925" cy="281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2609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A0014-64DE-466A-A110-CFA3A9CAB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Combined Log Stream Benefits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827662-8810-466A-8BD3-9ACFB8D0C9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Logging can often expose bottlenecks, or optimizations that are missed</a:t>
            </a:r>
          </a:p>
          <a:p>
            <a:pPr lvl="1"/>
            <a:r>
              <a:rPr lang="en-US" dirty="0"/>
              <a:t>EF Core for example logs out “optimizations” on model start</a:t>
            </a:r>
          </a:p>
          <a:p>
            <a:pPr lvl="1"/>
            <a:r>
              <a:rPr lang="en-US" dirty="0"/>
              <a:t>ASP.NET logs individual timestamps for entry/exit and processing</a:t>
            </a:r>
          </a:p>
          <a:p>
            <a:pPr lvl="1"/>
            <a:r>
              <a:rPr lang="en-US" dirty="0" err="1"/>
              <a:t>Serilog</a:t>
            </a:r>
            <a:r>
              <a:rPr lang="en-US" dirty="0"/>
              <a:t> can create a streamlined single-message duration</a:t>
            </a:r>
          </a:p>
          <a:p>
            <a:r>
              <a:rPr lang="en-US" dirty="0"/>
              <a:t>Can log things for diagnostic purposes</a:t>
            </a:r>
          </a:p>
          <a:p>
            <a:pPr lvl="1"/>
            <a:r>
              <a:rPr lang="en-US" dirty="0"/>
              <a:t>EF Core can log all actual executed SQL</a:t>
            </a:r>
          </a:p>
          <a:p>
            <a:pPr lvl="1"/>
            <a:r>
              <a:rPr lang="en-US" dirty="0"/>
              <a:t>Routing logs how/why a route was matched</a:t>
            </a:r>
          </a:p>
          <a:p>
            <a:r>
              <a:rPr lang="en-US" dirty="0"/>
              <a:t>Full breadcrumb traffic patterns</a:t>
            </a:r>
          </a:p>
        </p:txBody>
      </p:sp>
    </p:spTree>
    <p:extLst>
      <p:ext uri="{BB962C8B-B14F-4D97-AF65-F5344CB8AC3E}">
        <p14:creationId xmlns:p14="http://schemas.microsoft.com/office/powerpoint/2010/main" val="1487358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3281FC-7210-4ED9-9307-58A3CE63E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Message Format: </a:t>
            </a:r>
            <a:r>
              <a:rPr lang="en-US" dirty="0" err="1"/>
              <a:t>ToString</a:t>
            </a:r>
            <a:r>
              <a:rPr lang="en-US" dirty="0"/>
              <a:t>() vs Dump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0D962F-E825-4961-890B-5E3849C174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_</a:t>
            </a:r>
            <a:r>
              <a:rPr lang="fr-FR" dirty="0" err="1"/>
              <a:t>logger.LogInformation</a:t>
            </a:r>
            <a:r>
              <a:rPr lang="fr-FR" dirty="0"/>
              <a:t>("User Information {User}", </a:t>
            </a:r>
            <a:r>
              <a:rPr lang="fr-FR" dirty="0" err="1"/>
              <a:t>Request</a:t>
            </a:r>
            <a:r>
              <a:rPr lang="fr-FR" dirty="0"/>
              <a:t>);</a:t>
            </a:r>
          </a:p>
          <a:p>
            <a:pPr lvl="1"/>
            <a:r>
              <a:rPr lang="fr-FR" dirty="0"/>
              <a:t>[10:49:27 acd7bc9a-669d-4af5-9d4d-530b65966ef4 INF] User Information </a:t>
            </a:r>
            <a:r>
              <a:rPr lang="fr-FR" dirty="0" err="1"/>
              <a:t>Microsoft.AspNetCore.Http.DefaultHttpRequest</a:t>
            </a:r>
            <a:endParaRPr lang="fr-FR" dirty="0"/>
          </a:p>
          <a:p>
            <a:r>
              <a:rPr lang="en-US" dirty="0"/>
              <a:t>_</a:t>
            </a:r>
            <a:r>
              <a:rPr lang="en-US" dirty="0" err="1"/>
              <a:t>logger.LogInformation</a:t>
            </a:r>
            <a:r>
              <a:rPr lang="en-US" dirty="0"/>
              <a:t>("Full User Identity Details {@User}", </a:t>
            </a:r>
            <a:r>
              <a:rPr lang="en-US" dirty="0" err="1"/>
              <a:t>User.Identity</a:t>
            </a:r>
            <a:r>
              <a:rPr lang="en-US" dirty="0"/>
              <a:t>);</a:t>
            </a:r>
          </a:p>
          <a:p>
            <a:pPr lvl="1"/>
            <a:r>
              <a:rPr lang="en-US" dirty="0"/>
              <a:t>[10:49:27 acd7bc9a-669d-4af5-9d4d-530b65966ef4 INF] Full User Identity Details {"AuthenticationType":null,"IsAuthenticated":false,"Actor":null,"BootstrapContext":null,"Claims":[],"Label“….</a:t>
            </a:r>
          </a:p>
        </p:txBody>
      </p:sp>
    </p:spTree>
    <p:extLst>
      <p:ext uri="{BB962C8B-B14F-4D97-AF65-F5344CB8AC3E}">
        <p14:creationId xmlns:p14="http://schemas.microsoft.com/office/powerpoint/2010/main" val="21252719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B9D95-AC1F-66D7-4423-A247DD01D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Minimal .NET Core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AF7059-B1A7-28B5-6A81-F4A3E285DC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Add </a:t>
            </a:r>
            <a:r>
              <a:rPr lang="en-US" dirty="0" err="1"/>
              <a:t>Serilog.AspNetCore</a:t>
            </a:r>
            <a:r>
              <a:rPr lang="en-US" dirty="0"/>
              <a:t> Package</a:t>
            </a:r>
          </a:p>
          <a:p>
            <a:r>
              <a:rPr lang="en-US" dirty="0"/>
              <a:t>Add a configuration (JSON or Otherwise)</a:t>
            </a:r>
          </a:p>
          <a:p>
            <a:r>
              <a:rPr lang="en-US" dirty="0"/>
              <a:t>Add at least 1 sink (target) to the logging configuration</a:t>
            </a:r>
          </a:p>
          <a:p>
            <a:r>
              <a:rPr lang="en-US" dirty="0"/>
              <a:t>The sample application has two examples included</a:t>
            </a:r>
          </a:p>
          <a:p>
            <a:pPr lvl="1"/>
            <a:r>
              <a:rPr lang="en-US" dirty="0">
                <a:hlinkClick r:id="rId2"/>
              </a:rPr>
              <a:t>https://github.com/mitchelsellers/dotnetcoreloggingdemo</a:t>
            </a:r>
            <a:endParaRPr lang="en-US" dirty="0"/>
          </a:p>
          <a:p>
            <a:r>
              <a:rPr lang="en-US" dirty="0"/>
              <a:t>The Blazor app setup adds Aspire to the mix!</a:t>
            </a:r>
          </a:p>
        </p:txBody>
      </p:sp>
    </p:spTree>
    <p:extLst>
      <p:ext uri="{BB962C8B-B14F-4D97-AF65-F5344CB8AC3E}">
        <p14:creationId xmlns:p14="http://schemas.microsoft.com/office/powerpoint/2010/main" val="16459099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F313EE-0EE7-4002-92B1-D9480B3313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D5382-7115-462F-9A8C-867E31BEE7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GitHub Repository: </a:t>
            </a:r>
            <a:r>
              <a:rPr lang="en-US" dirty="0">
                <a:hlinkClick r:id="rId2"/>
              </a:rPr>
              <a:t>https://github.com/mitchelsellers/dotnetcoreloggingdemo</a:t>
            </a:r>
            <a:endParaRPr lang="en-US" dirty="0"/>
          </a:p>
          <a:p>
            <a:r>
              <a:rPr lang="en-US" dirty="0"/>
              <a:t>EF Core Logging Details: </a:t>
            </a:r>
            <a:r>
              <a:rPr lang="en-US" dirty="0">
                <a:hlinkClick r:id="rId3"/>
              </a:rPr>
              <a:t>https://docs.microsoft.com/en-us/ef/core/miscellaneous/logging</a:t>
            </a:r>
            <a:endParaRPr lang="en-US" dirty="0"/>
          </a:p>
          <a:p>
            <a:r>
              <a:rPr lang="en-US" dirty="0" err="1"/>
              <a:t>SeriLog</a:t>
            </a:r>
            <a:r>
              <a:rPr lang="en-US" dirty="0"/>
              <a:t> Info: </a:t>
            </a:r>
            <a:r>
              <a:rPr lang="en-US" dirty="0">
                <a:hlinkClick r:id="rId4"/>
              </a:rPr>
              <a:t>https://www.nuget.org/packages?q=Tags%3A%22serilog%22</a:t>
            </a:r>
            <a:endParaRPr lang="en-US" dirty="0"/>
          </a:p>
          <a:p>
            <a:r>
              <a:rPr lang="en-US" dirty="0"/>
              <a:t>Seq Info:</a:t>
            </a:r>
            <a:br>
              <a:rPr lang="en-US" dirty="0"/>
            </a:br>
            <a:r>
              <a:rPr lang="en-US" dirty="0"/>
              <a:t>https://www.datalust.co</a:t>
            </a:r>
          </a:p>
        </p:txBody>
      </p:sp>
    </p:spTree>
    <p:extLst>
      <p:ext uri="{BB962C8B-B14F-4D97-AF65-F5344CB8AC3E}">
        <p14:creationId xmlns:p14="http://schemas.microsoft.com/office/powerpoint/2010/main" val="6100607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D2AFE-7535-4C9A-AF44-A1161C0AE8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Code, Code, Code!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42F67C-C72A-4FC5-AF52-646CC038B6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Lets Demo!</a:t>
            </a:r>
          </a:p>
        </p:txBody>
      </p:sp>
    </p:spTree>
    <p:extLst>
      <p:ext uri="{BB962C8B-B14F-4D97-AF65-F5344CB8AC3E}">
        <p14:creationId xmlns:p14="http://schemas.microsoft.com/office/powerpoint/2010/main" val="3479654503"/>
      </p:ext>
    </p:extLst>
  </p:cSld>
  <p:clrMapOvr>
    <a:masterClrMapping/>
  </p:clrMapOvr>
</p:sld>
</file>

<file path=ppt/theme/theme1.xml><?xml version="1.0" encoding="utf-8"?>
<a:theme xmlns:a="http://schemas.openxmlformats.org/drawingml/2006/main" name="Mitchel Sellers Presentation Template">
  <a:themeElements>
    <a:clrScheme name="Custom 3">
      <a:dk1>
        <a:srgbClr val="0072C5"/>
      </a:dk1>
      <a:lt1>
        <a:srgbClr val="FFFFFF"/>
      </a:lt1>
      <a:dk2>
        <a:srgbClr val="005492"/>
      </a:dk2>
      <a:lt2>
        <a:srgbClr val="E7E6E6"/>
      </a:lt2>
      <a:accent1>
        <a:srgbClr val="7BB701"/>
      </a:accent1>
      <a:accent2>
        <a:srgbClr val="FFAA4C"/>
      </a:accent2>
      <a:accent3>
        <a:srgbClr val="A5A5A5"/>
      </a:accent3>
      <a:accent4>
        <a:srgbClr val="5E11BF"/>
      </a:accent4>
      <a:accent5>
        <a:srgbClr val="5B9BD5"/>
      </a:accent5>
      <a:accent6>
        <a:srgbClr val="B0A380"/>
      </a:accent6>
      <a:hlink>
        <a:srgbClr val="FEFFFF"/>
      </a:hlink>
      <a:folHlink>
        <a:srgbClr val="FFAA4C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itchel Sellers Presentation Template, DRAFT 03" id="{06235167-C239-4D4C-AB6B-5AAC399061A9}" vid="{E8C10765-F00D-C14C-929B-F5D7A963D4F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Mitchel Sellers Presentation Template</Template>
  <TotalTime>194</TotalTime>
  <Words>870</Words>
  <Application>Microsoft Office PowerPoint</Application>
  <PresentationFormat>Widescreen</PresentationFormat>
  <Paragraphs>120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Segoe UI Light</vt:lpstr>
      <vt:lpstr>Mitchel Sellers Presentation Template</vt:lpstr>
      <vt:lpstr>But! It was Logged!</vt:lpstr>
      <vt:lpstr>Who am I?</vt:lpstr>
      <vt:lpstr>Why Logging?</vt:lpstr>
      <vt:lpstr>Question Yourself</vt:lpstr>
      <vt:lpstr>What Types of Applications Do You Build</vt:lpstr>
      <vt:lpstr>Types of Logging</vt:lpstr>
      <vt:lpstr>Goals of Today</vt:lpstr>
      <vt:lpstr>Uses of Logging</vt:lpstr>
      <vt:lpstr>Information Sensitivity</vt:lpstr>
      <vt:lpstr>Escalation Protocols – Telling Someone!</vt:lpstr>
      <vt:lpstr>Common Escalation Pattern</vt:lpstr>
      <vt:lpstr>Unique Aspects of Logging in .NET</vt:lpstr>
      <vt:lpstr>PowerPoint Presentation</vt:lpstr>
      <vt:lpstr>PowerPoint Presentation</vt:lpstr>
      <vt:lpstr>Combined Log Stream Benefits</vt:lpstr>
      <vt:lpstr>Message Format: ToString() vs Dump</vt:lpstr>
      <vt:lpstr>Minimal .NET Core Setup</vt:lpstr>
      <vt:lpstr>Resources</vt:lpstr>
      <vt:lpstr>Code, Code, Code!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Effective, Real-World Logging</dc:title>
  <dc:creator>Mitchel Sellers</dc:creator>
  <cp:lastModifiedBy>Mitchel Sellers</cp:lastModifiedBy>
  <cp:revision>19</cp:revision>
  <dcterms:created xsi:type="dcterms:W3CDTF">2019-03-30T02:53:18Z</dcterms:created>
  <dcterms:modified xsi:type="dcterms:W3CDTF">2026-10-14T05:36:32Z</dcterms:modified>
</cp:coreProperties>
</file>